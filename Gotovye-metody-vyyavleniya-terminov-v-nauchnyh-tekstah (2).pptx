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4630400" cy="8229600"/>
  <p:notesSz cx="8229600" cy="14630400"/>
  <p:embeddedFontLst>
    <p:embeddedFont>
      <p:font typeface="Montserrat Black" panose="020B0604020202020204" charset="-52"/>
      <p:regular r:id="rId29"/>
    </p:embeddedFon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Inconsolata" panose="020B0604020202020204" charset="0"/>
      <p:regular r:id="rId3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05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3.png"/><Relationship Id="rId4" Type="http://schemas.openxmlformats.org/officeDocument/2006/relationships/image" Target="../media/image32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7.gif"/><Relationship Id="rId5" Type="http://schemas.openxmlformats.org/officeDocument/2006/relationships/image" Target="../media/image34.png"/><Relationship Id="rId4" Type="http://schemas.openxmlformats.org/officeDocument/2006/relationships/hyperlink" Target="https://github.com/iis-research-team/termin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47417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Готовые методы выявления терминов в научных текстах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68522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Карпов Владимир Сергеевич, студент ВМК 2 курс</a:t>
            </a:r>
            <a:endParaRPr lang="en-US" sz="195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448" y="7391283"/>
            <a:ext cx="3057952" cy="838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2298"/>
            <a:ext cx="105716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Обзор методов извлечения терминов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6003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 рамках доклада будут проанализированы готовые программные решения для автоматического извлечения терминов, применимые в конкурсе RuTermEval-2024. Основное внимание уделено следующим подходам: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92267" y="3316010"/>
            <a:ext cx="198358" cy="892969"/>
          </a:xfrm>
          <a:prstGeom prst="roundRect">
            <a:avLst>
              <a:gd name="adj" fmla="val 46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3790" y="3185755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87460" y="3216712"/>
            <a:ext cx="34344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Статистические методы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87460" y="3645932"/>
            <a:ext cx="1224915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Изучение подходов, таких как TF-IDF, C-value и RAKE, для выявления терминов.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289923" y="4705112"/>
            <a:ext cx="198358" cy="892969"/>
          </a:xfrm>
          <a:prstGeom prst="roundRect">
            <a:avLst>
              <a:gd name="adj" fmla="val 46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1446" y="4574858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85117" y="4605814"/>
            <a:ext cx="29225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Машинное обучение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885117" y="5035034"/>
            <a:ext cx="1195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Рассмотрение методов последовательной разметки и бинарной классификации.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1587579" y="6094214"/>
            <a:ext cx="198358" cy="892969"/>
          </a:xfrm>
          <a:prstGeom prst="roundRect">
            <a:avLst>
              <a:gd name="adj" fmla="val 46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389102" y="5963960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2182773" y="5994916"/>
            <a:ext cx="39064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Большие языковые модели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2182773" y="6424136"/>
            <a:ext cx="116538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Анализ работы с LLM, в частности, one-shot prompting для извлечения терминов.</a:t>
            </a:r>
            <a:endParaRPr lang="en-US" sz="155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448" y="7378782"/>
            <a:ext cx="3057952" cy="838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0223"/>
            <a:ext cx="71889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Конкурс RuTermEval-2024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847136"/>
            <a:ext cx="4215289" cy="2428994"/>
          </a:xfrm>
          <a:prstGeom prst="roundRect">
            <a:avLst>
              <a:gd name="adj" fmla="val 3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99768" y="20531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Трек 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2482334"/>
            <a:ext cx="3803333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Выявление терминов в научных текстах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07437" y="1847136"/>
            <a:ext cx="4215408" cy="2428994"/>
          </a:xfrm>
          <a:prstGeom prst="roundRect">
            <a:avLst>
              <a:gd name="adj" fmla="val 3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13415" y="20531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Трек 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13415" y="2482334"/>
            <a:ext cx="3803452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Выявление и классификация терминов по трём классам: specific_term, common_term, nomen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621203" y="1847136"/>
            <a:ext cx="4215289" cy="2428994"/>
          </a:xfrm>
          <a:prstGeom prst="roundRect">
            <a:avLst>
              <a:gd name="adj" fmla="val 3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27181" y="20531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Трек 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7181" y="2482334"/>
            <a:ext cx="3803333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Классификация с трансферным обучением на другие домены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790" y="4697730"/>
            <a:ext cx="24866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Классы терминов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790" y="5206246"/>
            <a:ext cx="6279356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specific term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термины, специфичные доменно и лексически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069568"/>
            <a:ext cx="6279356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common term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термины, специфичные только доменно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6932890"/>
            <a:ext cx="6279356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nomen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наименования уникальных объектов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4677966"/>
            <a:ext cx="6279356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Под выявлением терминов подразумевается идентификация фрагментов текста, являющихся терминами в широком понимании.</a:t>
            </a:r>
            <a:endParaRPr lang="en-US" sz="195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448" y="7329844"/>
            <a:ext cx="3057952" cy="838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930"/>
            <a:ext cx="130428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Задачи - поиск и анализе готовых программных решений для участия в описанном выше конкурсе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65033"/>
            <a:ext cx="992267" cy="1421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84415" y="2165033"/>
            <a:ext cx="37491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Систематизация подходов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84415" y="2594253"/>
            <a:ext cx="11852196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Анализ существующих методов автоматического извлечения терминов из русскоязычных текстов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784878"/>
            <a:ext cx="992267" cy="10245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84415" y="3784878"/>
            <a:ext cx="34493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Поиск готовых решений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84415" y="4214098"/>
            <a:ext cx="11852196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Выявление библиотек и предобученных моделей, применимых для задачи</a:t>
            </a:r>
            <a:endParaRPr lang="en-US" sz="1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007769"/>
            <a:ext cx="992267" cy="10245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84415" y="5007769"/>
            <a:ext cx="32330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Анализ характеристик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84415" y="5436989"/>
            <a:ext cx="11852196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Изучение технических параметров и возможностей найденных продуктов</a:t>
            </a:r>
            <a:endParaRPr lang="en-US" sz="1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230660"/>
            <a:ext cx="992267" cy="10245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84415" y="6230660"/>
            <a:ext cx="33585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Оценка эффективности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84415" y="6659880"/>
            <a:ext cx="11852196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Тестирование на основе метрик F1-score, Recall, Precision</a:t>
            </a:r>
            <a:endParaRPr lang="en-US" sz="195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2448" y="7322761"/>
            <a:ext cx="3057952" cy="838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689729"/>
            <a:ext cx="11968996" cy="530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Характеристики продуктов и подход к их поиску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54023" y="1559243"/>
            <a:ext cx="13122354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Подобранные программные решения и инструменты разделены на две ключевые категории, каждая из которых имеет свои специфические требования.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4023" y="2598182"/>
            <a:ext cx="248150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Готовые библиотеки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4023" y="3032879"/>
            <a:ext cx="6354247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Простой API и лёгкость интеграции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4023" y="3431381"/>
            <a:ext cx="6354247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Открытый исходный код или подробная документация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4023" y="3829883"/>
            <a:ext cx="6354247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Настройка параметров (стоп-слова, шаблоны)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023" y="4228386"/>
            <a:ext cx="6354247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Поддержка русского языка или языковая независимость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29751" y="2598182"/>
            <a:ext cx="2936319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Предобученные модели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29751" y="3032879"/>
            <a:ext cx="6354247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Поддержка русского языка на уровне предобучения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29751" y="3431381"/>
            <a:ext cx="6354247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Возможность дообучения (fine-tuning)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29751" y="3829883"/>
            <a:ext cx="6354247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Кастомизация параметров и выдаваемых значений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29751" y="4228386"/>
            <a:ext cx="6354247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Документированность архитектуры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023" y="5220533"/>
            <a:ext cx="13122354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Для поиска и отбора методов и инструментов, отвечающих этим критериям, использовались следующие поисковые системы и платформы: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4023" y="6005036"/>
            <a:ext cx="1312235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Yandex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для поиска русскоязычных ресурсов и решений.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023" y="6403538"/>
            <a:ext cx="1312235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2"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Google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для англоязычных запросов и глобальных исследований.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4023" y="6802041"/>
            <a:ext cx="1312235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3"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Perplexity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для анализа методов, научных статей и готовых реализаций.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4023" y="7200543"/>
            <a:ext cx="1312235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4"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DeepSeek/Github Copilot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для генерации списков решений и первичного тестирования.</a:t>
            </a:r>
            <a:endParaRPr lang="en-US" sz="13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224" y="7308652"/>
            <a:ext cx="3057952" cy="838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5443"/>
            <a:ext cx="11048048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Статистические методы выявления терминов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49837"/>
            <a:ext cx="1304282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Данный подход основан на ранжировании слов-кандидатов по их терминологичности с помощью статических мер. Он использует частотные и позиционные характеристики слов для оценки их терминологичности.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414230"/>
            <a:ext cx="1304282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Общий препроцессинг: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2941320"/>
            <a:ext cx="13042821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Лемматизация: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Приведение слов к начальной форме, используя библиотеку </a:t>
            </a: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pymorphy2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352800"/>
            <a:ext cx="13042821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Удаление стоп-слов: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Отфильтровывание слов общей лексики, не несущих специфической терминологической нагрузки, с помощью библиотеки </a:t>
            </a: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stop_words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4232434"/>
            <a:ext cx="1304282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Метрики качества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3790" y="4759523"/>
            <a:ext cx="1304282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оценки эффективности методов были использованы упрощенные метрики, поскольку полноценное тестирование в конкурсной системе было недоступно: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3790" y="5647611"/>
            <a:ext cx="13042821" cy="48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647611"/>
            <a:ext cx="13042821" cy="4889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3790" y="6350079"/>
            <a:ext cx="13042821" cy="48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350079"/>
            <a:ext cx="13042821" cy="48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3790" y="7052548"/>
            <a:ext cx="13042821" cy="49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7052548"/>
            <a:ext cx="13042821" cy="49160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2448" y="7338477"/>
            <a:ext cx="3057952" cy="838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531019"/>
            <a:ext cx="6066592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Статистические методы: TF-IDF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72358" y="1223605"/>
            <a:ext cx="13085683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TF-IDF (Term Frequency-Inverse Document Frequency) – это статистическая метрика, которая оценивает важность слова в документе относительно коллекции документов. Она является произведением двух основных компонентов: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2358" y="1935123"/>
            <a:ext cx="13085683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58" y="1935123"/>
            <a:ext cx="13085683" cy="2283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358" y="2334458"/>
            <a:ext cx="13085683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TF (Term Frequency)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Частота термина </a:t>
            </a:r>
            <a:r>
              <a:rPr lang="en-US" sz="10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в документе </a:t>
            </a:r>
            <a:r>
              <a:rPr lang="en-US" sz="10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Чем чаще слово встречается в документе, тем выше его значимость для этого документа.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2358" y="3045976"/>
            <a:ext cx="13085683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58" y="3045976"/>
            <a:ext cx="13085683" cy="4387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2358" y="3655695"/>
            <a:ext cx="13085683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IDF (Inverse Document Frequency)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Обратная частота документа. Показывает, насколько уникальным или редким является слово во всей коллекции документов (корпусе).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72358" y="4367213"/>
            <a:ext cx="13085683" cy="441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58" y="4367213"/>
            <a:ext cx="13085683" cy="4416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5122" y="5131832"/>
            <a:ext cx="1288292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Слово, встречающееся часто в одном тексте и редко в других, вероятнее всего является важным для данного текста.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72358" y="4979789"/>
            <a:ext cx="15240" cy="57435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9"/>
          <p:cNvSpPr/>
          <p:nvPr/>
        </p:nvSpPr>
        <p:spPr>
          <a:xfrm>
            <a:off x="772358" y="5756910"/>
            <a:ext cx="316277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Готовые библиотеки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772358" y="6297573"/>
            <a:ext cx="6475214" cy="1403747"/>
          </a:xfrm>
          <a:prstGeom prst="roundRect">
            <a:avLst>
              <a:gd name="adj" fmla="val 651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922734" y="6447949"/>
            <a:ext cx="1898094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Scikit-learn (Python)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22734" y="6740128"/>
            <a:ext cx="6174462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Имеет встроенные статистические методы для работы с текстами. Использовалась как основа для готовых моделей и векторизации данных.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82708" y="6297573"/>
            <a:ext cx="6475333" cy="1403747"/>
          </a:xfrm>
          <a:prstGeom prst="roundRect">
            <a:avLst>
              <a:gd name="adj" fmla="val 651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533084" y="6447949"/>
            <a:ext cx="1689616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Gensim (Python)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533084" y="6740128"/>
            <a:ext cx="6174581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Библиотека, специально разработанная для обработки текстов, предлагает простой и понятный API для реализации TF-IDF. Подходит для корпусной обработки.</a:t>
            </a:r>
            <a:endParaRPr lang="en-US" sz="13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168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567" y="528161"/>
            <a:ext cx="5513546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TF-IDF: Реализация и результаты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5567" y="1132403"/>
            <a:ext cx="131792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реализации TF-IDF с использованием Python были применены следующие библиотеки: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25567" y="1500783"/>
            <a:ext cx="13179266" cy="2439829"/>
          </a:xfrm>
          <a:prstGeom prst="roundRect">
            <a:avLst>
              <a:gd name="adj" fmla="val 375"/>
            </a:avLst>
          </a:prstGeom>
          <a:solidFill>
            <a:srgbClr val="EBDFD7"/>
          </a:solidFill>
          <a:ln/>
        </p:spPr>
      </p:sp>
      <p:sp>
        <p:nvSpPr>
          <p:cNvPr id="5" name="Shape 3"/>
          <p:cNvSpPr/>
          <p:nvPr/>
        </p:nvSpPr>
        <p:spPr>
          <a:xfrm>
            <a:off x="719733" y="1500783"/>
            <a:ext cx="13190934" cy="2439829"/>
          </a:xfrm>
          <a:prstGeom prst="roundRect">
            <a:avLst>
              <a:gd name="adj" fmla="val 725"/>
            </a:avLst>
          </a:prstGeom>
          <a:solidFill>
            <a:srgbClr val="EBDFD7"/>
          </a:solidFill>
          <a:ln/>
        </p:spPr>
      </p:sp>
      <p:sp>
        <p:nvSpPr>
          <p:cNvPr id="6" name="Text 4"/>
          <p:cNvSpPr/>
          <p:nvPr/>
        </p:nvSpPr>
        <p:spPr>
          <a:xfrm>
            <a:off x="837605" y="1589127"/>
            <a:ext cx="12955191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gensim import corpora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gensim.models import TfidfModel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Создание словаря и корпуса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 = corpora.Dictionary(texts)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Мешок слов, каждому слову его количество использование в корпусе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Corpus = [dictionary.doc2bow(text) for text in texts]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Вернет id слова и значение TF-IDF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Tfidf_model = TfidfModel(corpus)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Tfidf_corpus = tfidf_model[corpus]</a:t>
            </a:r>
            <a:endParaRPr lang="en-US" sz="14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25567" y="4073247"/>
            <a:ext cx="131792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 использованием векторизации TF-IDF, а также линейной регрессии и XGBoost, были получены следующие показатели на отдельной тестирующей выборке: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5567" y="4441627"/>
            <a:ext cx="13179266" cy="1192530"/>
          </a:xfrm>
          <a:prstGeom prst="roundRect">
            <a:avLst>
              <a:gd name="adj" fmla="val 76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3187" y="4449247"/>
            <a:ext cx="13164026" cy="3924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51535" y="4527590"/>
            <a:ext cx="23931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88055" y="452759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99340" y="452759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10626" y="452759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21911" y="452759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333196" y="4527590"/>
            <a:ext cx="15994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176046" y="4527590"/>
            <a:ext cx="160329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3187" y="4841677"/>
            <a:ext cx="13164026" cy="3924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51535" y="4920020"/>
            <a:ext cx="23931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Линейная регрессия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88055" y="492002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593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99340" y="492002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3175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10626" y="492002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21911" y="492002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0.1574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333196" y="4920020"/>
            <a:ext cx="15994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0.9012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2176046" y="4920020"/>
            <a:ext cx="160329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0.2680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3187" y="5234107"/>
            <a:ext cx="13164026" cy="3924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51535" y="5312450"/>
            <a:ext cx="23931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XGBoost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88055" y="531245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525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99340" y="531245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1196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10626" y="531245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133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21911" y="5312450"/>
            <a:ext cx="1467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0.3051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333196" y="5312450"/>
            <a:ext cx="15994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0.7979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2176046" y="5312450"/>
            <a:ext cx="160329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0.4414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5567" y="5766792"/>
            <a:ext cx="131792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Хотя TF-IDF достаточно прост в реализации и интеграции, у него есть ряд существенных недостатков: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108710" y="6135172"/>
            <a:ext cx="2579727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Зависимость от лемматизации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08710" y="6390084"/>
            <a:ext cx="391167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Требует корректной лемматизации для точного определения значимости терминов.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5550813" y="6135172"/>
            <a:ext cx="333089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Игнорирование вложенности терминов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5550813" y="6390084"/>
            <a:ext cx="3911798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Не учитывает иерархическую структуру и вложенность терминов, что требует дополнительных шагов по формированию n-грамм.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9993035" y="6135172"/>
            <a:ext cx="2300407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Низкая точность (Precision)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9993035" y="6390084"/>
            <a:ext cx="391179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Склонность считать многие общеупотребительные слова терминами, что приводит к низким показателям точности.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725567" y="7465695"/>
            <a:ext cx="131792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Из-за этих ограничений TF-IDF целесообразно использовать в сочетании с другими статистическими подходами для повышения эффективности выявления терминов.</a:t>
            </a:r>
            <a:endParaRPr lang="en-US" sz="1400" dirty="0"/>
          </a:p>
        </p:txBody>
      </p:sp>
      <p:pic>
        <p:nvPicPr>
          <p:cNvPr id="44" name="Рисунок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343" y="7701439"/>
            <a:ext cx="2734057" cy="516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603"/>
            <a:ext cx="11734919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Статистические методы: T-score и Log-Likelihood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493996"/>
            <a:ext cx="1304282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Помимо TF-IDF, существуют другие статистические подходы для выявления терминов, основанные на различных принципах оценки значимости слов и словосочетаний.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421612"/>
            <a:ext cx="6075283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T-score для оценки коллокаций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096339"/>
            <a:ext cx="1304282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T-score используется для оценки статистической значимости коллокаций (устойчивых словосочетаний), основываясь на сравнении наблюдаемой и ожидаемой частоты встречаемости.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3984427"/>
            <a:ext cx="13042821" cy="58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84427"/>
            <a:ext cx="13042821" cy="5870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4785003"/>
            <a:ext cx="1304282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f(w_1, w_2)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совместная частота слов </a:t>
            </a: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w_1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 </a:t>
            </a: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w_2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в корпусе.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3790" y="5181243"/>
            <a:ext cx="1304282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E(w_1, w_2) = \frac{f(w_1) \times f(w_2)}{N}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ожидаемая частота при условии независимости слов, где </a:t>
            </a: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f(w_1)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 </a:t>
            </a: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f(w_2)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индивидуальные частоты слов, а </a:t>
            </a: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общее число слов в корпусе.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790" y="6045637"/>
            <a:ext cx="13042821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Реализация:</a:t>
            </a: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Функционал для вычисления T-score доступен в библиотеке </a:t>
            </a:r>
            <a:r>
              <a:rPr lang="en-US" sz="16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NLTK (Natural Language Toolkit)</a:t>
            </a: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для Python, которая хорошо документирована и содержит примеры для работы с коллокациями.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93790" y="6925270"/>
            <a:ext cx="1304282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Ограничение:</a:t>
            </a: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Основной недостаток метода заключается в том, что он ориентирован на выявление двухсловных комбинаций (биграмм), что значительно сужает область применения.</a:t>
            </a:r>
            <a:endParaRPr lang="en-US" sz="165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60669"/>
            <a:ext cx="14630400" cy="8068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2099"/>
            <a:ext cx="888908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Log-Likelihood для сравнения корпусов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495068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Метод Log-Likelihood сравнивает частоты термина в специализированном (целевом) корпусе и в общем (референсном) корпусе, позволяя выявить термины, специфичные для конкретной предметной области.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37034"/>
            <a:ext cx="13042821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37034"/>
            <a:ext cx="13042821" cy="654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84250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F_d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 </a:t>
            </a: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F_g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частоты кандидата </a:t>
            </a: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C_n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в доменном и общем корпусах соответственно.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308872"/>
            <a:ext cx="13042821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E_d = N_d \times \frac{F_d + F_g}{N_d + N_g}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 </a:t>
            </a: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E_g = N_g \times \frac{F_d + F_g}{N_d + N_g}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ожидаемые частоты.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4791670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N_d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 </a:t>
            </a: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N_g</a:t>
            </a: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размеры доменного и общего корпусов.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411867"/>
            <a:ext cx="13042821" cy="40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Реализация:</a:t>
            </a: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T-score, Log-Likelihood имеет реализации в </a:t>
            </a:r>
            <a:r>
              <a:rPr lang="en-US" sz="1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NLTK</a:t>
            </a: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93790" y="6039683"/>
            <a:ext cx="13042821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Ограничение:</a:t>
            </a: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Для эффективного использования метода необходимо наличие большого общего корпуса, что является сложной задачей и требует значительных ресурсов для сбора и предобработки данных. В следствие  чего данный метод не был использован в текущем исследовании.</a:t>
            </a:r>
            <a:endParaRPr lang="en-US" sz="195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8945"/>
            <a:ext cx="14801850" cy="8201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536377"/>
            <a:ext cx="11796951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Метод C-value: оценка терминологичности с учётом вложенности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73787" y="1180743"/>
            <a:ext cx="13082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C-value — это статистический метод, предназначенный для оценки значимости и "терминологичности" словосочетаний, особенно многословных терминов. Его ключевое отличие от простых частотных методов — способность учитывать вложенность терминов.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3787" y="1825109"/>
            <a:ext cx="13082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Идея: короткая последовательность часто встречается самостоятельно, а не только внутри более длинных фраз. Формула C-value адаптируется к этому условию: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3787" y="2487097"/>
            <a:ext cx="13082826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87" y="2487097"/>
            <a:ext cx="13082826" cy="554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3787" y="3200757"/>
            <a:ext cx="1308282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|a|</a:t>
            </a: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длина кандидата в словах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3787" y="3496151"/>
            <a:ext cx="1308282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f(a)</a:t>
            </a: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частота кандидата в корпусе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3787" y="3791545"/>
            <a:ext cx="1308282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P(T_a)</a:t>
            </a: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количество более длинных кандидатов, содержащих 'a'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3787" y="4086939"/>
            <a:ext cx="1308282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\sum_{b \in T_a} f(b)</a:t>
            </a: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сумма частот этих более длинных кандидатов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3787" y="4526994"/>
            <a:ext cx="409277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Библиотека pke (Python Keyphrase Extraction)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3787" y="4912043"/>
            <a:ext cx="13082826" cy="964406"/>
          </a:xfrm>
          <a:prstGeom prst="roundRect">
            <a:avLst>
              <a:gd name="adj" fmla="val 948"/>
            </a:avLst>
          </a:prstGeom>
          <a:solidFill>
            <a:srgbClr val="D7D9D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17" y="5114568"/>
            <a:ext cx="196453" cy="15716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21700" y="5069205"/>
            <a:ext cx="1250918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pke</a:t>
            </a:r>
            <a:r>
              <a:rPr lang="en-US" sz="12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специализированный инструмент для извлечения ключевых фраз, имеющий встроенную реализацию C-value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221700" y="5441394"/>
            <a:ext cx="1250918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pke</a:t>
            </a:r>
            <a:r>
              <a:rPr lang="en-US" sz="12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обладает достаточно громоздким и негибким API.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3787" y="6065044"/>
            <a:ext cx="3176587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Результаты эксперимента с C-value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3787" y="6450092"/>
            <a:ext cx="1308282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Сам по себе C-value в сочетании с XGBoost показал следующие результаты: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73787" y="6842998"/>
            <a:ext cx="13082826" cy="850106"/>
          </a:xfrm>
          <a:prstGeom prst="roundRect">
            <a:avLst>
              <a:gd name="adj" fmla="val 10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1407" y="6850618"/>
            <a:ext cx="13067586" cy="4174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907375" y="6933605"/>
            <a:ext cx="2358152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524607" y="6933605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TP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223391" y="6933605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FP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922175" y="6933605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620958" y="6933605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319742" y="6933605"/>
            <a:ext cx="157031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Recall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2149137" y="6933605"/>
            <a:ext cx="157412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F1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81407" y="7268051"/>
            <a:ext cx="13067586" cy="4174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907375" y="7351038"/>
            <a:ext cx="2358152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C-value + XGBoost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524607" y="7351038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533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223391" y="7351038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3814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922175" y="7351038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125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620958" y="7351038"/>
            <a:ext cx="14397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0.1226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0319742" y="7351038"/>
            <a:ext cx="157031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0.8100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2149137" y="7351038"/>
            <a:ext cx="157412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0.2130</a:t>
            </a:r>
            <a:endParaRPr lang="en-US" sz="1200" dirty="0"/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7753"/>
            <a:ext cx="15039735" cy="82473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79" y="525661"/>
            <a:ext cx="4719518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2.1 RAKE (Rapid Automatic Keyword Extraction)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379" y="997387"/>
            <a:ext cx="13131641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RAKE (Rapid Automatic Keyword Extraction) — это алгоритм, разработанный для эффективного извлечения ключевых слов и фраз из отдельных документов, основываясь на частоте слов и их совместной встречаемости.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379" y="1667232"/>
            <a:ext cx="348829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Принцип работы алгоритма RAKE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79" y="2078117"/>
            <a:ext cx="6565821" cy="4870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1061" y="2686883"/>
            <a:ext cx="2865477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Формирование фраз-кандидатов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1061" y="2950131"/>
            <a:ext cx="6322457" cy="730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Текст сегментируется на непрерывные последовательности слов, используя список стоп-слов (предлоги, союзы) как разделители. Эти последовательности становятся потенциальными ключевыми фразами.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078117"/>
            <a:ext cx="6565821" cy="4870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36882" y="2686883"/>
            <a:ext cx="1522333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Сбор статистики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436882" y="2950131"/>
            <a:ext cx="6322457" cy="7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каждого слова в документе вычисляются его частота (</a:t>
            </a: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freq(word)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 и степень (</a:t>
            </a: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degree(word)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), которая отражает суммарное количество встречаемости слова с другими в пределах одной фразы.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79" y="3817858"/>
            <a:ext cx="6565821" cy="4870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1061" y="4426625"/>
            <a:ext cx="2185511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Оценка значимости фраз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71061" y="4689872"/>
            <a:ext cx="6322457" cy="49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Каждая фраза-кандидат получает итоговый score, рассчитываемый как сумма отношений </a:t>
            </a: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degree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к </a:t>
            </a: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для всех входящих в неё слов.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71061" y="5338763"/>
            <a:ext cx="6322457" cy="47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061" y="5338763"/>
            <a:ext cx="6322457" cy="474940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817858"/>
            <a:ext cx="6565821" cy="48708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36882" y="4426625"/>
            <a:ext cx="2513647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Ранжирование и извлечение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7436882" y="4689872"/>
            <a:ext cx="6322457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Фразы ранжируются по убыванию их score, и топ-N фраз, имеющих наибольшую значимость, извлекаются как ключевые термины документа.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749379" y="6118027"/>
            <a:ext cx="3680817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Практическая реализация и тестирование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749379" y="6490930"/>
            <a:ext cx="13131641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Python-библиотека </a:t>
            </a: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rake_ulik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749379" y="6879074"/>
            <a:ext cx="13131641" cy="824865"/>
          </a:xfrm>
          <a:prstGeom prst="roundRect">
            <a:avLst>
              <a:gd name="adj" fmla="val 11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56999" y="6886694"/>
            <a:ext cx="13116401" cy="4048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879158" y="6967299"/>
            <a:ext cx="2376011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3506153" y="6967299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TP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211247" y="6967299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FP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6916341" y="6967299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FN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8621435" y="6967299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0326529" y="6967299"/>
            <a:ext cx="158519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Recall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2162711" y="6967299"/>
            <a:ext cx="158900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F1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56999" y="7291507"/>
            <a:ext cx="13116401" cy="4048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879158" y="7372112"/>
            <a:ext cx="23760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RAKE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3506153" y="7372112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87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211247" y="7372112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460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916341" y="7372112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571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8621435" y="7372112"/>
            <a:ext cx="14541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0.1590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10326529" y="7372112"/>
            <a:ext cx="158519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0.1322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12162711" y="7372112"/>
            <a:ext cx="158900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0.1444</a:t>
            </a:r>
            <a:endParaRPr lang="en-US" sz="1150" dirty="0"/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0941" y="7711559"/>
            <a:ext cx="2339459" cy="477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949"/>
            <a:ext cx="8581906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Приложение к статистическим методам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93790" y="1724025"/>
            <a:ext cx="6446996" cy="2969300"/>
          </a:xfrm>
          <a:prstGeom prst="roundRect">
            <a:avLst>
              <a:gd name="adj" fmla="val 2464"/>
            </a:avLst>
          </a:prstGeom>
          <a:solidFill>
            <a:srgbClr val="F8ECE4"/>
          </a:solidFill>
          <a:ln/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3790" y="1708785"/>
            <a:ext cx="6446996" cy="60960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</p:sp>
      <p:sp>
        <p:nvSpPr>
          <p:cNvPr id="5" name="Shape 3"/>
          <p:cNvSpPr/>
          <p:nvPr/>
        </p:nvSpPr>
        <p:spPr>
          <a:xfrm>
            <a:off x="3794046" y="1500783"/>
            <a:ext cx="446484" cy="446484"/>
          </a:xfrm>
          <a:prstGeom prst="roundRect">
            <a:avLst>
              <a:gd name="adj" fmla="val 204800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3927991" y="1612344"/>
            <a:ext cx="17859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7858" y="2096095"/>
            <a:ext cx="6118860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Лингвистические и орфографические признаки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57858" y="2743319"/>
            <a:ext cx="6118860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Использование лингвистических (например, частей речи) и орфографических (например, написание английских слов в русском тексте).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89614" y="1724025"/>
            <a:ext cx="6446996" cy="2969300"/>
          </a:xfrm>
          <a:prstGeom prst="roundRect">
            <a:avLst>
              <a:gd name="adj" fmla="val 2464"/>
            </a:avLst>
          </a:prstGeom>
          <a:solidFill>
            <a:srgbClr val="F8ECE4"/>
          </a:solidFill>
          <a:ln/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89614" y="1708785"/>
            <a:ext cx="6446996" cy="60960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</p:sp>
      <p:sp>
        <p:nvSpPr>
          <p:cNvPr id="11" name="Shape 9"/>
          <p:cNvSpPr/>
          <p:nvPr/>
        </p:nvSpPr>
        <p:spPr>
          <a:xfrm>
            <a:off x="10389870" y="1500783"/>
            <a:ext cx="446484" cy="446484"/>
          </a:xfrm>
          <a:prstGeom prst="roundRect">
            <a:avLst>
              <a:gd name="adj" fmla="val 204800"/>
            </a:avLst>
          </a:prstGeom>
          <a:solidFill>
            <a:srgbClr val="15161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23815" y="1612344"/>
            <a:ext cx="17859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53682" y="2096095"/>
            <a:ext cx="6118860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Отсутствие предобученных feature-based моделей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53682" y="2743319"/>
            <a:ext cx="611886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Ранее рассмотренные статистические признаки могли бы быть объединены для обучения feature-based моделей машинного обучения, классифицирующих слова как термины. Однако, в ходе исследования не было обнаружено предобученных моделей подобного рода, адаптированных для русскоязычных научных текстов.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3790" y="4916567"/>
            <a:ext cx="3699391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Модель spaCy </a:t>
            </a:r>
            <a:r>
              <a:rPr lang="en-US" sz="1750" b="1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en_acl_terms_sm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426393"/>
            <a:ext cx="13042821" cy="908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Модель </a:t>
            </a:r>
            <a:r>
              <a:rPr lang="en-US" sz="14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en_acl_terms_sm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из библиотеки spaCy, обученная на англоязычном корпусе научных статей по компьютерной лингвистике, демонстрирует высокую F1-меру (94.71) при распознавании терминов как именованных сущностей. Теоретически, её можно было бы применить к переведённому русскому тексту.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3790" y="6502003"/>
            <a:ext cx="13042821" cy="989648"/>
          </a:xfrm>
          <a:prstGeom prst="roundRect">
            <a:avLst>
              <a:gd name="adj" fmla="val 924"/>
            </a:avLst>
          </a:prstGeom>
          <a:solidFill>
            <a:srgbClr val="D7D9DA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18" y="6730960"/>
            <a:ext cx="232529" cy="1859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3975" y="6687979"/>
            <a:ext cx="1236380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Ключевое ограничение:</a:t>
            </a:r>
            <a:r>
              <a:rPr lang="en-US" sz="14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Проблема точного сопоставления терминов. Прямой перевод искажает порядок слов, делая невозможным точное определение границ и позиций исходного термина в оригинальном русскоязычном тексте.</a:t>
            </a:r>
            <a:endParaRPr lang="en-US" sz="1450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712" y="7659052"/>
            <a:ext cx="2600688" cy="543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526852"/>
            <a:ext cx="13100685" cy="107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Методы машинного обучения: Последовательная разметка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64858" y="1946553"/>
            <a:ext cx="13100685" cy="68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Последовательная разметка — модель анализирует текст токен за токеном, присваивая каждому слову или символу метку. Чаще всего используются схемы BIO или BIOES.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8" y="2828568"/>
            <a:ext cx="4366855" cy="688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6903" y="3688913"/>
            <a:ext cx="2151102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 (Begin)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36903" y="4060984"/>
            <a:ext cx="4022765" cy="68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Токен является началом многословного термина.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13" y="2828568"/>
            <a:ext cx="4366855" cy="688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3758" y="3688913"/>
            <a:ext cx="2151102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 (Inside)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5303758" y="4060984"/>
            <a:ext cx="4022765" cy="1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Токен находится внутри многословного термина (не является началом или концом).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568" y="2828568"/>
            <a:ext cx="4366855" cy="688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0613" y="3688913"/>
            <a:ext cx="2151102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(Outside)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9670613" y="4060984"/>
            <a:ext cx="4022765" cy="68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Токен не является частью какого-либо термина.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8" y="5265658"/>
            <a:ext cx="4366855" cy="688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6903" y="6126004"/>
            <a:ext cx="2151102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 (End)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936903" y="6498074"/>
            <a:ext cx="4022765" cy="1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Токен является концом многословного термина (только в схеме BIOES).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13" y="5265658"/>
            <a:ext cx="4366855" cy="688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03758" y="6126004"/>
            <a:ext cx="2151102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 (Single)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5303758" y="6498074"/>
            <a:ext cx="4022765" cy="68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Токен является однословным термином (только в схеме BIOES).</a:t>
            </a:r>
            <a:endParaRPr lang="en-US" sz="165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712" y="7686123"/>
            <a:ext cx="2600688" cy="543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532924"/>
            <a:ext cx="9102209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Flair: Инструмент для последовательной разметки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75216" y="1178481"/>
            <a:ext cx="1307996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Flair, библиотека отличается мультиязычностью, поддерживая множество языков, включая русский, через предобученные модели.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5216" y="1572101"/>
            <a:ext cx="6477000" cy="1799153"/>
          </a:xfrm>
          <a:prstGeom prst="roundRect">
            <a:avLst>
              <a:gd name="adj" fmla="val 50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8804" y="1705689"/>
            <a:ext cx="377904" cy="377904"/>
          </a:xfrm>
          <a:prstGeom prst="roundRect">
            <a:avLst>
              <a:gd name="adj" fmla="val 24194202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908804" y="2209562"/>
            <a:ext cx="1574602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Гибкость и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8804" y="2481858"/>
            <a:ext cx="6209824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Простой и интуитивно понятный API позволяет легко дообучать модели на собственных данных.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78184" y="1572101"/>
            <a:ext cx="6477000" cy="1799153"/>
          </a:xfrm>
          <a:prstGeom prst="roundRect">
            <a:avLst>
              <a:gd name="adj" fmla="val 50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11772" y="1705689"/>
            <a:ext cx="377904" cy="377904"/>
          </a:xfrm>
          <a:prstGeom prst="roundRect">
            <a:avLst>
              <a:gd name="adj" fmla="val 24194202"/>
            </a:avLst>
          </a:prstGeom>
          <a:solidFill>
            <a:srgbClr val="151617"/>
          </a:solidFill>
          <a:ln/>
        </p:spPr>
      </p:sp>
      <p:sp>
        <p:nvSpPr>
          <p:cNvPr id="10" name="Text 8"/>
          <p:cNvSpPr/>
          <p:nvPr/>
        </p:nvSpPr>
        <p:spPr>
          <a:xfrm>
            <a:off x="7511772" y="2209562"/>
            <a:ext cx="2158484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Модель SequenceTagger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1772" y="2481858"/>
            <a:ext cx="6209824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 основе Flair лежит модель SequenceTagger, которая использует contextual string embeddings (например, Flair-эмбеддинги) в сочетании с BiLSTM-CRF для высокоэффективной последовательной разметки.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5216" y="3560207"/>
            <a:ext cx="4319945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Практическая реализация и результаты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5216" y="3985260"/>
            <a:ext cx="13079968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При дообучении модели Flair SequenceTagger для задачи распознавания терминов (без качественной BIO/BIOES-разметки) на тестовой выборке были получены следующие метрики: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5216" y="4630817"/>
            <a:ext cx="13079968" cy="851535"/>
          </a:xfrm>
          <a:prstGeom prst="roundRect">
            <a:avLst>
              <a:gd name="adj" fmla="val 107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2836" y="4638437"/>
            <a:ext cx="13064728" cy="4181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09280" y="4721542"/>
            <a:ext cx="2357199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6036" y="4721542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24343" y="4721542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2651" y="4721542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20958" y="4721542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9266" y="4721542"/>
            <a:ext cx="1569482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48304" y="4721542"/>
            <a:ext cx="1573292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2836" y="5056584"/>
            <a:ext cx="13064728" cy="4181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09280" y="5139690"/>
            <a:ext cx="2357199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Flair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6036" y="5139690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24343" y="5139690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2023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22651" y="5139690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456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20958" y="5139690"/>
            <a:ext cx="143875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0.0908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9266" y="5139690"/>
            <a:ext cx="1569482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0.3070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148304" y="5139690"/>
            <a:ext cx="1573292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0.1401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5216" y="5686963"/>
            <a:ext cx="13079968" cy="23336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5216" y="5899190"/>
            <a:ext cx="4060508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AllenNLP: Альтернативная платформа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75216" y="6437590"/>
            <a:ext cx="6386393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AllenNLP — предоставляет обширную поддержку для различных архитектур последовательной разметки, предлагая высокую гибкость для глубокой настройки.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76411" y="6465927"/>
            <a:ext cx="6386393" cy="1089541"/>
          </a:xfrm>
          <a:prstGeom prst="roundRect">
            <a:avLst>
              <a:gd name="adj" fmla="val 839"/>
            </a:avLst>
          </a:prstGeom>
          <a:solidFill>
            <a:srgbClr val="D7D9DA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379" y="6660833"/>
            <a:ext cx="196810" cy="157401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925157" y="6623328"/>
            <a:ext cx="5811679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Причина неиспользования:</a:t>
            </a:r>
            <a:r>
              <a:rPr lang="en-US" sz="12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AllenNLP оказался более сложным в настройке и имел менее дружелюбную документацию по сравнению с Flair.</a:t>
            </a:r>
            <a:endParaRPr lang="en-US" sz="1200"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712" y="7686598"/>
            <a:ext cx="2600688" cy="543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706398"/>
            <a:ext cx="10281642" cy="56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BERT-модели для извлечения терминов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63429" y="1345406"/>
            <a:ext cx="9617631" cy="45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BERT-модели для последовательной разметки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63429" y="2070616"/>
            <a:ext cx="13103543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BERT (Bidirectional Encoder Representations from Transformers) — это мощная трансформерная модель, предобученная на маскировании языкового моделирования. Её ключевое преимущество — двунаправленное кодирование контекста слова. Для последовательной разметки поверх выходных эмбеддингов BERT добавляется простой классификационный слой.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63429" y="3725227"/>
            <a:ext cx="6461165" cy="3797975"/>
          </a:xfrm>
          <a:prstGeom prst="roundRect">
            <a:avLst>
              <a:gd name="adj" fmla="val 241"/>
            </a:avLst>
          </a:prstGeom>
          <a:solidFill>
            <a:srgbClr val="F8ECE4"/>
          </a:solidFill>
          <a:ln w="7620">
            <a:solidFill>
              <a:srgbClr val="007BFF"/>
            </a:solidFill>
            <a:prstDash val="solid"/>
          </a:ln>
          <a:effectLst>
            <a:outerShdw dist="16510" dir="2700000" algn="bl" rotWithShape="0">
              <a:srgbClr val="007BFF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262" y="3914061"/>
            <a:ext cx="407777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ruBERT-base-cased (DeepPavlov)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52262" y="4306133"/>
            <a:ext cx="6083498" cy="1087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Характеристика: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Многоязычная модель, дообученная на русской Википедии и новостных корпусах.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262" y="5457587"/>
            <a:ext cx="6083498" cy="725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Параметры: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12 слоёв, 768 скрытых единиц, 12 голов внимания.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2262" y="6246376"/>
            <a:ext cx="6083498" cy="725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Применимость: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Решает широкий спектр задач NLP на русском языке.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5807" y="3725227"/>
            <a:ext cx="6461165" cy="3797975"/>
          </a:xfrm>
          <a:prstGeom prst="roundRect">
            <a:avLst>
              <a:gd name="adj" fmla="val 241"/>
            </a:avLst>
          </a:prstGeom>
          <a:solidFill>
            <a:srgbClr val="F8ECE4"/>
          </a:solidFill>
          <a:ln w="7620">
            <a:solidFill>
              <a:srgbClr val="007BFF"/>
            </a:solidFill>
            <a:prstDash val="solid"/>
          </a:ln>
          <a:effectLst>
            <a:outerShdw dist="16510" dir="2700000" algn="bl" rotWithShape="0">
              <a:srgbClr val="007BFF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94640" y="3914061"/>
            <a:ext cx="2669977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ruBERT (SberDevices)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4640" y="4306133"/>
            <a:ext cx="6083498" cy="1087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Характеристика: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Модель, предобученная на обширном русскоязычном корпусе (Википедия, новости, книги, веб-сайты, субтитры).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94640" y="5457587"/>
            <a:ext cx="6083498" cy="36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Параметры: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12 слоёв, 768 скрытых единиц.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94640" y="5883712"/>
            <a:ext cx="6083498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Применимость: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В экспериментах часто показывает стабильно лучшие результаты, чем ruBERT от DeepPavlov, благодаря более разнообразному и чистому корпусу.</a:t>
            </a:r>
            <a:endParaRPr lang="en-US" sz="14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9712" y="7586663"/>
            <a:ext cx="2600688" cy="543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985718"/>
            <a:ext cx="12717066" cy="56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Бинарная классификация с глубоким обучением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64143" y="1915716"/>
            <a:ext cx="131021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Этот двухэтапный подход является альтернативой последовательной разметке. Сначала из текста извлекаются фразы-кандидаты, затем для каждого кандидата модель определяет, является ли данная фраза термином.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64143" y="2845594"/>
            <a:ext cx="13102114" cy="1351002"/>
          </a:xfrm>
          <a:prstGeom prst="roundRect">
            <a:avLst>
              <a:gd name="adj" fmla="val 67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1763" y="2853214"/>
            <a:ext cx="6543437" cy="1335762"/>
          </a:xfrm>
          <a:prstGeom prst="roundRect">
            <a:avLst>
              <a:gd name="adj" fmla="val 685"/>
            </a:avLst>
          </a:prstGeom>
          <a:solidFill>
            <a:srgbClr val="F8ECE4"/>
          </a:solidFill>
          <a:ln/>
        </p:spPr>
      </p:sp>
      <p:sp>
        <p:nvSpPr>
          <p:cNvPr id="6" name="Text 4"/>
          <p:cNvSpPr/>
          <p:nvPr/>
        </p:nvSpPr>
        <p:spPr>
          <a:xfrm>
            <a:off x="953214" y="3034665"/>
            <a:ext cx="379035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Выделение фраз-кандидатов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53214" y="3426976"/>
            <a:ext cx="59083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Генерация потенциальных терминов из текста с использованием n-грамм или лингвистических шаблонов.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853214"/>
            <a:ext cx="6543437" cy="1335762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853214"/>
            <a:ext cx="22860" cy="1335762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</p:sp>
      <p:sp>
        <p:nvSpPr>
          <p:cNvPr id="10" name="Text 8"/>
          <p:cNvSpPr/>
          <p:nvPr/>
        </p:nvSpPr>
        <p:spPr>
          <a:xfrm>
            <a:off x="7768828" y="3034665"/>
            <a:ext cx="33535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Бинарная классификация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768828" y="3426976"/>
            <a:ext cx="59083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Модель на основе контекста определяет, является ли выбранная фраза-кандидат термином.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8386" y="3294221"/>
            <a:ext cx="453628" cy="453628"/>
          </a:xfrm>
          <a:prstGeom prst="roundRect">
            <a:avLst>
              <a:gd name="adj" fmla="val 2016"/>
            </a:avLst>
          </a:prstGeom>
          <a:solidFill>
            <a:srgbClr val="F8ECE4"/>
          </a:solidFill>
          <a:ln w="22860">
            <a:solidFill>
              <a:srgbClr val="2E2F30"/>
            </a:solidFill>
            <a:prstDash val="solid"/>
          </a:ln>
          <a:effectLst>
            <a:outerShdw dist="16510" dir="2700000" algn="bl" rotWithShape="0">
              <a:srgbClr val="2E2F30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143" y="4468773"/>
            <a:ext cx="8375452" cy="45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Архитектура и математический аппарат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764143" y="5194697"/>
            <a:ext cx="13102114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 основе подхода лежит тонкая настройка BERT-подобных моделей. Контекстное предложение и фраза-кандидат объединяются в единую входную последовательность. Выходные эмбеддинги специального токена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[CLS]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используются для бинарной классификации.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4143" y="6502718"/>
            <a:ext cx="13102114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реализации также используются мощные BERT-модели, такие как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ruBERT-base-cased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(DeepPavlov) и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ruBERT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(SberDevices), показавшие высокую эффективность в задачах последовательной разметки.</a:t>
            </a:r>
            <a:endParaRPr lang="en-US" sz="175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7656" y="7686599"/>
            <a:ext cx="2600688" cy="543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2385"/>
            <a:ext cx="100899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Сравнение подходов BERT-моделей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99298"/>
            <a:ext cx="13042821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Исследование из статьи кафедры алгоритмических языков сфокусировано на сравнении двух принципиально разных подходов к автоматическому распознаванию терминов (ATE) в русскоязычных научных текстах по математике и программированию с использованием BERT-моделей.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3810357"/>
            <a:ext cx="6422231" cy="2419588"/>
          </a:xfrm>
          <a:prstGeom prst="roundRect">
            <a:avLst>
              <a:gd name="adj" fmla="val 378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6650" y="3833217"/>
            <a:ext cx="6376511" cy="595313"/>
          </a:xfrm>
          <a:prstGeom prst="rect">
            <a:avLst/>
          </a:prstGeom>
          <a:solidFill>
            <a:srgbClr val="F8ECE4"/>
          </a:solidFill>
          <a:ln/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56077" y="394096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15008" y="4626888"/>
            <a:ext cx="54073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Бинарная классификация кандидатов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5056108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Модель определяет, является ли предварительно выделенная фраза термином или нет, решая задачу бинарной классификации.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810357"/>
            <a:ext cx="6422231" cy="2419588"/>
          </a:xfrm>
          <a:prstGeom prst="roundRect">
            <a:avLst>
              <a:gd name="adj" fmla="val 378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37239" y="3833217"/>
            <a:ext cx="6376511" cy="595313"/>
          </a:xfrm>
          <a:prstGeom prst="rect">
            <a:avLst/>
          </a:prstGeom>
          <a:solidFill>
            <a:srgbClr val="F8ECE4"/>
          </a:solidFill>
          <a:ln/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476667" y="394096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635597" y="4626888"/>
            <a:ext cx="52262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Последовательная разметка токенов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35597" y="5056108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Каждому токену в тексте присваивается метка (например, B-BEGIN, I-INSIDE, O-OUTSIDE), что позволяет точно определять границы терминов.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453188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Оба подхода были реализованы и протестированы на одном специализированном размеченном корпусе для оценки их эффективности.</a:t>
            </a:r>
            <a:endParaRPr lang="en-US" sz="195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7252" y="7686599"/>
            <a:ext cx="2600688" cy="543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5597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7564874" y="355663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564874" y="437507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93790" y="264271"/>
            <a:ext cx="4464684" cy="643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850"/>
              </a:lnSpc>
            </a:pPr>
            <a:r>
              <a:rPr lang="ru-RU" sz="2400" b="1" dirty="0" smtClean="0">
                <a:solidFill>
                  <a:srgbClr val="151617"/>
                </a:solidFill>
                <a:latin typeface="Montserrat Black" pitchFamily="34" charset="0"/>
              </a:rPr>
              <a:t>Результаты применения</a:t>
            </a:r>
            <a:endParaRPr lang="en-US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4175" y="7486546"/>
            <a:ext cx="1996225" cy="743054"/>
          </a:xfrm>
          <a:prstGeom prst="rect">
            <a:avLst/>
          </a:prstGeom>
        </p:spPr>
      </p:pic>
      <p:pic>
        <p:nvPicPr>
          <p:cNvPr id="8" name="Рисунок 7" descr="Таблица 3&#10;Оценки качества распознавания терминов&#10;Table 3&#10;&#10;Quality assessments of term recognition&#10;&#10;Модель Разбиение набора данных Подход&#10;  Последовательная разметка Бинарная классификация&#10;  P, % R, % F1, % P, % R, % F1, %&#10;ruBert-DeepPavlov Математика 76.1 40.4 52.8 83.9 55.6 66.9&#10; Программирование 78.9 37.4 50.8 80.3 58.1 67.4&#10; Смешение 63.5 42.8 51.1 75.7 69.6 72.5&#10;В среднем  по разбиениям 72.8 40.2 51.6 80.0 61.1 68.9&#10;ruBert-Sber Математика 75.9 43.3 55.1 84.5 63.9 72.8&#10; Программирование 79.9 35.4 49.1 77.6 63.2 70.0&#10; Смешение 74.0 44.8 55.8 76.3 70.5 73.3&#10;В среднем по разбиениям 76.6 41.2 53.4 79.5 65.9 72.0&#10;Среднее &#10;по моделям  74.7 40.7 52.5 79.7 63.5 70.5&#10;&#10;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703" y="1734392"/>
            <a:ext cx="8504755" cy="50782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568975"/>
              </p:ext>
            </p:extLst>
          </p:nvPr>
        </p:nvGraphicFramePr>
        <p:xfrm>
          <a:off x="1728210" y="2454626"/>
          <a:ext cx="3951891" cy="3840889"/>
        </p:xfrm>
        <a:graphic>
          <a:graphicData uri="http://schemas.openxmlformats.org/drawingml/2006/table">
            <a:tbl>
              <a:tblPr/>
              <a:tblGrid>
                <a:gridCol w="1317297"/>
                <a:gridCol w="1317297"/>
                <a:gridCol w="1317297"/>
              </a:tblGrid>
              <a:tr h="1075449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Метрика</a:t>
                      </a:r>
                      <a:endParaRPr lang="ru-RU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Exact 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Relaxed 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75449">
                <a:tc>
                  <a:txBody>
                    <a:bodyPr/>
                    <a:lstStyle/>
                    <a:p>
                      <a:r>
                        <a:rPr lang="en-US" sz="1800" b="1" dirty="0"/>
                        <a:t>Precision (P)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0.3993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0.7711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4542">
                <a:tc>
                  <a:txBody>
                    <a:bodyPr/>
                    <a:lstStyle/>
                    <a:p>
                      <a:r>
                        <a:rPr lang="en-US" sz="1800" b="1"/>
                        <a:t>Recall (R)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0.8830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0.9483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75449">
                <a:tc>
                  <a:txBody>
                    <a:bodyPr/>
                    <a:lstStyle/>
                    <a:p>
                      <a:r>
                        <a:rPr lang="en-US" sz="1800" b="1"/>
                        <a:t>F1-score (F1)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0.5499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0.8506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793790" y="907973"/>
            <a:ext cx="3716081" cy="7046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b="1" dirty="0" smtClean="0">
                <a:solidFill>
                  <a:srgbClr val="151617"/>
                </a:solidFill>
                <a:latin typeface="Montserrat Black" pitchFamily="34" charset="0"/>
              </a:rPr>
              <a:t>Мой результат </a:t>
            </a:r>
          </a:p>
          <a:p>
            <a:pPr algn="ctr">
              <a:lnSpc>
                <a:spcPct val="150000"/>
              </a:lnSpc>
            </a:pPr>
            <a:r>
              <a:rPr lang="ru-RU" sz="1400" b="1" dirty="0" smtClean="0">
                <a:solidFill>
                  <a:srgbClr val="151617"/>
                </a:solidFill>
                <a:latin typeface="Montserrat Black" pitchFamily="34" charset="0"/>
              </a:rPr>
              <a:t>(практически </a:t>
            </a:r>
            <a:r>
              <a:rPr lang="en-US" sz="1400" b="1" dirty="0" smtClean="0">
                <a:solidFill>
                  <a:srgbClr val="151617"/>
                </a:solidFill>
                <a:latin typeface="Montserrat Black" pitchFamily="34" charset="0"/>
              </a:rPr>
              <a:t>“</a:t>
            </a:r>
            <a:r>
              <a:rPr lang="ru-RU" sz="1400" b="1" dirty="0" smtClean="0">
                <a:solidFill>
                  <a:srgbClr val="151617"/>
                </a:solidFill>
                <a:latin typeface="Montserrat Black" pitchFamily="34" charset="0"/>
              </a:rPr>
              <a:t>сырая реализация</a:t>
            </a:r>
            <a:r>
              <a:rPr lang="en-US" sz="1400" b="1" dirty="0" smtClean="0">
                <a:solidFill>
                  <a:srgbClr val="151617"/>
                </a:solidFill>
                <a:latin typeface="Montserrat Black" pitchFamily="34" charset="0"/>
              </a:rPr>
              <a:t>”</a:t>
            </a:r>
            <a:r>
              <a:rPr lang="ru-RU" sz="1400" b="1" dirty="0" smtClean="0">
                <a:solidFill>
                  <a:srgbClr val="151617"/>
                </a:solidFill>
                <a:latin typeface="Montserrat Black" pitchFamily="34" charset="0"/>
              </a:rPr>
              <a:t>)</a:t>
            </a:r>
            <a:endParaRPr lang="en-US" sz="1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713787" y="811062"/>
            <a:ext cx="7315200" cy="4610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b="1" dirty="0" smtClean="0">
                <a:solidFill>
                  <a:srgbClr val="151617"/>
                </a:solidFill>
                <a:latin typeface="Montserrat Black" pitchFamily="34" charset="0"/>
              </a:rPr>
              <a:t>Результаты в статье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390" y="1734392"/>
            <a:ext cx="1486107" cy="6344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2152"/>
            <a:ext cx="102373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One-shot / Few-shot Prompting с LLM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39064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Современные большие языковые модели (LLM), такие как GPT, YandexGPT или открытые аналоги, способны извлекать термины без дообучения. Вместо этого используется техника промптинга, где модель получает текстовую инструкцию и контекст.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3453170"/>
            <a:ext cx="6422231" cy="2737128"/>
          </a:xfrm>
          <a:prstGeom prst="roundRect">
            <a:avLst>
              <a:gd name="adj" fmla="val 33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6650" y="3476030"/>
            <a:ext cx="6376511" cy="595313"/>
          </a:xfrm>
          <a:prstGeom prst="rect">
            <a:avLst/>
          </a:prstGeom>
          <a:solidFill>
            <a:srgbClr val="F8ECE4"/>
          </a:solidFill>
          <a:ln/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56077" y="358378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15008" y="4269700"/>
            <a:ext cx="28285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Zero-shot Prompting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469892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Модель получает только инструкцию и входной текст, самостоятельно определяя требуемый формат и специфику задачи.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453170"/>
            <a:ext cx="6422231" cy="2737128"/>
          </a:xfrm>
          <a:prstGeom prst="roundRect">
            <a:avLst>
              <a:gd name="adj" fmla="val 33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37239" y="3476030"/>
            <a:ext cx="6376511" cy="595313"/>
          </a:xfrm>
          <a:prstGeom prst="rect">
            <a:avLst/>
          </a:prstGeom>
          <a:solidFill>
            <a:srgbClr val="F8ECE4"/>
          </a:solidFill>
          <a:ln/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476667" y="358378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635597" y="4269700"/>
            <a:ext cx="42726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One-shot / Few-shot Prompting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35597" y="4698921"/>
            <a:ext cx="59797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 инструкции добавляется один или несколько наглядных примеров (input → output), что позволяет модели лучше понять требуемый формат и может включать выдачу классов терминов.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413540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Хотя YandexGPT5 предлагал большие возможности для реализации, его применение было отложено из-за временных ограничений проекта.</a:t>
            </a:r>
            <a:endParaRPr lang="en-US" sz="195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604" y="7378422"/>
            <a:ext cx="4448796" cy="809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1699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Методы для многоклассовой классификации терминов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48689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Второй этап задачи RuTermEval-2024 требует не только извлечения терминов, но и их классификации по типу: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818555" y="3855958"/>
            <a:ext cx="446365" cy="515898"/>
          </a:xfrm>
          <a:prstGeom prst="roundRect">
            <a:avLst>
              <a:gd name="adj" fmla="val 12291"/>
            </a:avLst>
          </a:prstGeom>
          <a:solidFill>
            <a:srgbClr val="DFDF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4" y="4002524"/>
            <a:ext cx="248007" cy="1983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7930" y="3983593"/>
            <a:ext cx="27871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SPEC (Specific Term)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537930" y="4412813"/>
            <a:ext cx="3438049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Характерен только для данной научной области, понятен узкому кругу экспертов.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5248751" y="3855958"/>
            <a:ext cx="446365" cy="515898"/>
          </a:xfrm>
          <a:prstGeom prst="roundRect">
            <a:avLst>
              <a:gd name="adj" fmla="val 12291"/>
            </a:avLst>
          </a:prstGeom>
          <a:solidFill>
            <a:srgbClr val="DFDF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930" y="4002524"/>
            <a:ext cx="248007" cy="1983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68127" y="3983593"/>
            <a:ext cx="30872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 (Common Term)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968127" y="4412813"/>
            <a:ext cx="3438168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Относится к предметной области, но понятен и неспециалисту.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9679067" y="3855958"/>
            <a:ext cx="446365" cy="515898"/>
          </a:xfrm>
          <a:prstGeom prst="roundRect">
            <a:avLst>
              <a:gd name="adj" fmla="val 12291"/>
            </a:avLst>
          </a:prstGeom>
          <a:solidFill>
            <a:srgbClr val="DFDFE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246" y="4002524"/>
            <a:ext cx="248007" cy="1983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98443" y="39835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NOM (Nomen)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0398443" y="4412813"/>
            <a:ext cx="3438168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Уникальное название объекта (алгоритма, метода, закона, базы данных, препарата).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793790" y="6223873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решения этой задачи может быть использована стратегия, надстраиваемая над существующими решениями для извлечения терминов.</a:t>
            </a:r>
            <a:endParaRPr lang="en-US" sz="195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604" y="7419862"/>
            <a:ext cx="4448796" cy="809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832485"/>
            <a:ext cx="13084254" cy="12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Модификация модели последовательной разметки для многоклассовой классификации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3073" y="2426732"/>
            <a:ext cx="13084254" cy="115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Модели последовательной разметки, используемые для извлечения терминов, могут быть адаптированы для многоклассового распознавания, что позволяет классифицировать извлеченные термины по их типу.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3073" y="3803571"/>
            <a:ext cx="4232553" cy="3593544"/>
          </a:xfrm>
          <a:prstGeom prst="roundRect">
            <a:avLst>
              <a:gd name="adj" fmla="val 25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933" y="3826431"/>
            <a:ext cx="4186833" cy="579834"/>
          </a:xfrm>
          <a:prstGeom prst="rect">
            <a:avLst/>
          </a:prstGeom>
          <a:solidFill>
            <a:srgbClr val="F8ECE4"/>
          </a:solidFill>
          <a:ln/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4391" y="3931325"/>
            <a:ext cx="289917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89171" y="4599503"/>
            <a:ext cx="3800356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Расширенная схема разметки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9171" y="5319355"/>
            <a:ext cx="3800356" cy="154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Вместо стандартной BIO-разметки для одного класса TERM используется расширенный набор меток: B-SPEC, I-SPEC, B-COMM, I-COMM, B-NOM, I-NOM, 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98864" y="3803571"/>
            <a:ext cx="4232553" cy="3593544"/>
          </a:xfrm>
          <a:prstGeom prst="roundRect">
            <a:avLst>
              <a:gd name="adj" fmla="val 25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21724" y="3826431"/>
            <a:ext cx="4186833" cy="579834"/>
          </a:xfrm>
          <a:prstGeom prst="rect">
            <a:avLst/>
          </a:prstGeom>
          <a:solidFill>
            <a:srgbClr val="F8ECE4"/>
          </a:solidFill>
          <a:ln/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0182" y="3931325"/>
            <a:ext cx="289917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414963" y="4599503"/>
            <a:ext cx="338244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Адаптация архитектуры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14963" y="5017413"/>
            <a:ext cx="3800356" cy="216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Архитектура модели (например, BertForTokenClassification) остается прежней, но изменяется размер выходного слоя. Модель обучается на корпусе CL-RuTerm3, где каждый термин уже имеет присвоенный класс.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24655" y="3803571"/>
            <a:ext cx="4232553" cy="3593544"/>
          </a:xfrm>
          <a:prstGeom prst="roundRect">
            <a:avLst>
              <a:gd name="adj" fmla="val 25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47515" y="3826431"/>
            <a:ext cx="4186833" cy="579834"/>
          </a:xfrm>
          <a:prstGeom prst="rect">
            <a:avLst/>
          </a:prstGeom>
          <a:solidFill>
            <a:srgbClr val="F8ECE4"/>
          </a:solidFill>
          <a:ln/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595973" y="3931325"/>
            <a:ext cx="289917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840754" y="4599503"/>
            <a:ext cx="277784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Оценка и трудности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840754" y="5017413"/>
            <a:ext cx="3800356" cy="185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Хотя подход концептуально корректен, готовые реализации показали нестабильные результаты и сложность в отладке, что привело к отказу от его использования в данном проекте.</a:t>
            </a:r>
            <a:endParaRPr lang="en-US" sz="15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604" y="7483079"/>
            <a:ext cx="4448796" cy="746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519" y="639127"/>
            <a:ext cx="13177361" cy="113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Каскадная классификация: отдельный классификатор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6519" y="2137529"/>
            <a:ext cx="13177361" cy="1453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Этот более модульный и гибкий подход предполагает разделение задачи на два этапа: сначала извлечение терминов, а затем классификация найденных кандидатов на три класса (SPEC, COMM, NOM). Для каждого термина-кандидата запускается отдельная модель, которая анализирует его в контексте исходного предложения.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26519" y="4067294"/>
            <a:ext cx="6497836" cy="2228969"/>
          </a:xfrm>
          <a:prstGeom prst="roundRect">
            <a:avLst>
              <a:gd name="adj" fmla="val 4923"/>
            </a:avLst>
          </a:prstGeom>
          <a:solidFill>
            <a:srgbClr val="F8ECE4"/>
          </a:solidFill>
          <a:ln/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6519" y="4044434"/>
            <a:ext cx="6497836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6" name="Shape 4"/>
          <p:cNvSpPr/>
          <p:nvPr/>
        </p:nvSpPr>
        <p:spPr>
          <a:xfrm>
            <a:off x="3702903" y="3794879"/>
            <a:ext cx="544949" cy="544949"/>
          </a:xfrm>
          <a:prstGeom prst="roundRect">
            <a:avLst>
              <a:gd name="adj" fmla="val 167796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3866376" y="3931087"/>
            <a:ext cx="217884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0950" y="4521398"/>
            <a:ext cx="3320772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Классические алгоритмы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30950" y="4914067"/>
            <a:ext cx="6088975" cy="871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Используют набор сконструированных признаков (лингвистические, статистические, лексические). Примеры включают логистическую регрессию, Random Forest и CatBoost.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5926" y="4067294"/>
            <a:ext cx="6497955" cy="2228969"/>
          </a:xfrm>
          <a:prstGeom prst="roundRect">
            <a:avLst>
              <a:gd name="adj" fmla="val 4923"/>
            </a:avLst>
          </a:prstGeom>
          <a:solidFill>
            <a:srgbClr val="F8ECE4"/>
          </a:solidFill>
          <a:ln/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05926" y="4044434"/>
            <a:ext cx="6497955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82429" y="3794879"/>
            <a:ext cx="544949" cy="544949"/>
          </a:xfrm>
          <a:prstGeom prst="roundRect">
            <a:avLst>
              <a:gd name="adj" fmla="val 167796"/>
            </a:avLst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45901" y="3931087"/>
            <a:ext cx="217884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10356" y="4521398"/>
            <a:ext cx="332827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Трансформерные модели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10356" y="4914067"/>
            <a:ext cx="6089094" cy="1177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Современный подход с использованием моделей типа AutoModelForSequenceClassification (например, на основе ruBERT или ruRoBERTa). Модель естественным образом поддерживает многоклассовую классификацию с параметром </a:t>
            </a:r>
            <a:r>
              <a:rPr lang="en-US" sz="14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num_labels=3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519" y="6500574"/>
            <a:ext cx="13177361" cy="1089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Главное преимущество каскадной классификации в том, что она позволяет независимо выбирать и улучшать наиболее эффективные модели как для извлечения, так и </a:t>
            </a:r>
            <a:r>
              <a:rPr lang="en-US" sz="17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75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классификаци</a:t>
            </a:r>
            <a:r>
              <a:rPr lang="ru-RU" sz="17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</a:t>
            </a:r>
            <a:r>
              <a:rPr lang="en-US" sz="17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75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580" y="7389795"/>
            <a:ext cx="4448796" cy="809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9986"/>
            <a:ext cx="99674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Sentence-BERT для классификации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56899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 рамках каскадного подхода к многоклассовой классификации терминов, Sentence-BERT (SBERT) играет ключевую роль на втором этапе, обеспечивая семантически обогащенные представления для найденных кандидатов.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2710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585329"/>
            <a:ext cx="6422231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730228"/>
            <a:ext cx="32164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Сценарий применения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159448"/>
            <a:ext cx="64222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После извлечения терминов, SBERT используется для получения векторных представлений (эмбеддингов) либо самого термина, либо пары «термин + контекст» из исходного текста.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14379" y="32710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585329"/>
            <a:ext cx="6422231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8"/>
          <p:cNvSpPr/>
          <p:nvPr/>
        </p:nvSpPr>
        <p:spPr>
          <a:xfrm>
            <a:off x="7414379" y="3730228"/>
            <a:ext cx="25237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Механизм работы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14379" y="4159448"/>
            <a:ext cx="64222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Эти векторные представления затем подаются на вход простому классификатору (например, линейному слою) или используются для семантического сравнения с эталонными векторами каждого класса.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801678"/>
            <a:ext cx="13042821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Использование SBERT обеспечивает семантически богатые представления, что значительно повышает качество классификации, особенно для сложных случаев различения между SPEC и COMM </a:t>
            </a:r>
            <a:r>
              <a:rPr lang="en-US" sz="195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терминами</a:t>
            </a:r>
            <a:r>
              <a:rPr lang="en-US" sz="19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r>
              <a:rPr lang="ru-RU" sz="19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Метод </a:t>
            </a:r>
            <a:r>
              <a:rPr lang="en-US" sz="195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не</a:t>
            </a:r>
            <a:r>
              <a:rPr lang="ru-RU" sz="19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95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является</a:t>
            </a:r>
            <a:r>
              <a:rPr lang="en-US" sz="19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9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готовым</a:t>
            </a:r>
            <a:r>
              <a:rPr lang="en-US" sz="1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95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решением</a:t>
            </a:r>
            <a:r>
              <a:rPr lang="en-US" sz="19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95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282" y="7419862"/>
            <a:ext cx="4448796" cy="809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685324"/>
            <a:ext cx="4226838" cy="528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Заключение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51403" y="1551742"/>
            <a:ext cx="1312759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 результате проведённого анализа были систематизированы готовые методы и инструменты для автоматического извлечения терминов из научных текстов, применимые для участия в конкурсе RuTermEval-2024.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1403" y="2418159"/>
            <a:ext cx="6479262" cy="3758803"/>
          </a:xfrm>
          <a:prstGeom prst="roundRect">
            <a:avLst>
              <a:gd name="adj" fmla="val 24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4263" y="2441019"/>
            <a:ext cx="6433542" cy="507206"/>
          </a:xfrm>
          <a:prstGeom prst="rect">
            <a:avLst/>
          </a:prstGeom>
          <a:solidFill>
            <a:srgbClr val="F8ECE4"/>
          </a:solidFill>
          <a:ln/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64173" y="2532340"/>
            <a:ext cx="253603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43332" y="3117294"/>
            <a:ext cx="3128843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Классификация подходов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3332" y="3482816"/>
            <a:ext cx="609540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Были подробно рассмотрены и классифицированы следующие методы: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3332" y="4125278"/>
            <a:ext cx="609540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Статистические (TF-IDF, C-value, Log-Likelihood, RAKE)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3332" y="4454962"/>
            <a:ext cx="609540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Машинное обучение с feature engineering (Gradient Boosting)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3332" y="4784646"/>
            <a:ext cx="609540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Последовательная разметка (BiLSTM-CRF, ruBERT)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3332" y="5114330"/>
            <a:ext cx="609540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Бинарная классификация (ruBERT, ruRoBERTa)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3332" y="5444014"/>
            <a:ext cx="609540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LLM с zero-shot/one-shot/few-shot промптингом (YandexGPT, DeepSeek)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99734" y="2418159"/>
            <a:ext cx="6479262" cy="3758803"/>
          </a:xfrm>
          <a:prstGeom prst="roundRect">
            <a:avLst>
              <a:gd name="adj" fmla="val 24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22594" y="2441019"/>
            <a:ext cx="6433542" cy="507206"/>
          </a:xfrm>
          <a:prstGeom prst="rect">
            <a:avLst/>
          </a:prstGeom>
          <a:solidFill>
            <a:srgbClr val="F8ECE4"/>
          </a:solidFill>
          <a:ln/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2504" y="2532340"/>
            <a:ext cx="253603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591663" y="3117294"/>
            <a:ext cx="264211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Библиотеки и модели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91663" y="3482816"/>
            <a:ext cx="609540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Составлен список готовых решений: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91663" y="3854768"/>
            <a:ext cx="609540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статистики: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Gensim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pke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rake-nltk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NLTK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91663" y="4192072"/>
            <a:ext cx="609540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ML: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Flair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AllenNLP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 Transformers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91663" y="4529376"/>
            <a:ext cx="609540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Предобученные модели: ruBERT-DeepPavlov, ruBERT-Sber, ruRoBERTa-large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00877" y="6367105"/>
            <a:ext cx="227766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Быстрый прототип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300877" y="6732627"/>
            <a:ext cx="3685461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Рекомендуется использовать </a:t>
            </a: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TF-IDF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для быстрой проверки гипотез и начальной оценки.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747147" y="6367105"/>
            <a:ext cx="3413165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Сбалансированное решение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5747147" y="6732627"/>
            <a:ext cx="3685461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достижения высокой точности и надёжности — </a:t>
            </a: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ruBERT с бинарной классификацией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0193417" y="6367105"/>
            <a:ext cx="2776895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Гибкость без обучения</a:t>
            </a:r>
            <a:endParaRPr lang="en-US" sz="1650" dirty="0"/>
          </a:p>
        </p:txBody>
      </p:sp>
      <p:sp>
        <p:nvSpPr>
          <p:cNvPr id="30" name="Text 25"/>
          <p:cNvSpPr/>
          <p:nvPr/>
        </p:nvSpPr>
        <p:spPr>
          <a:xfrm>
            <a:off x="10193417" y="6732627"/>
            <a:ext cx="3685580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 случае необходимости адаптивности и минимальных затрат на обучение — </a:t>
            </a: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YandexGPT с качественным промптом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300" dirty="0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239" y="7645597"/>
            <a:ext cx="4448796" cy="550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279" y="527804"/>
            <a:ext cx="4414718" cy="551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Выводы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06279" y="1432798"/>
            <a:ext cx="13217843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Проведённый анализ методов и практические эксперименты по автоматическому извлечению и классификации терминов из русскоязычных научных текстов позволяют сформулировать следующие ключевые выводы: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8305" y="2328863"/>
            <a:ext cx="397073" cy="458867"/>
          </a:xfrm>
          <a:prstGeom prst="roundRect">
            <a:avLst>
              <a:gd name="adj" fmla="val 13817"/>
            </a:avLst>
          </a:prstGeom>
          <a:solidFill>
            <a:srgbClr val="DFDF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31" y="2460665"/>
            <a:ext cx="220623" cy="1765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6279" y="2999661"/>
            <a:ext cx="547080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Готовые решения: Недостаток и Адаптация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06279" y="3381375"/>
            <a:ext cx="6498550" cy="847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Полноценные продукты для русского языка отсутствуют. Англоязычные инструменты требуют значительной адаптации и дообучения.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6279" y="4334470"/>
            <a:ext cx="649855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Terminator</a:t>
            </a: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3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– </a:t>
            </a:r>
            <a:r>
              <a:rPr lang="ru-RU" sz="13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интересный </a:t>
            </a:r>
            <a:r>
              <a:rPr lang="en-US" sz="135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проект</a:t>
            </a:r>
            <a:r>
              <a:rPr lang="en-US" sz="13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</a:t>
            </a:r>
            <a:endParaRPr lang="ru-RU" sz="1350" dirty="0" smtClean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35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но</a:t>
            </a:r>
            <a:r>
              <a:rPr lang="en-US" sz="135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ссылки на веса не работают.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447478" y="2328863"/>
            <a:ext cx="397073" cy="458867"/>
          </a:xfrm>
          <a:prstGeom prst="roundRect">
            <a:avLst>
              <a:gd name="adj" fmla="val 13817"/>
            </a:avLst>
          </a:prstGeom>
          <a:solidFill>
            <a:srgbClr val="DFDF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704" y="2460665"/>
            <a:ext cx="220623" cy="1765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25452" y="2999661"/>
            <a:ext cx="6498669" cy="55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Эффективность: Компромисс "Простота vs. Качество"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425452" y="3657243"/>
            <a:ext cx="6498669" cy="847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Статистические методы (TF-IDF, C-value) просты во внедрении (F1 до 40%), но могут конкурировать с базовыми моделями глубокого обучения.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25452" y="4610338"/>
            <a:ext cx="6498669" cy="56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Глубокое обучение (BERT) требует ресурсов и данных, но достигает F1 70-78%.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28305" y="5519499"/>
            <a:ext cx="397073" cy="458867"/>
          </a:xfrm>
          <a:prstGeom prst="roundRect">
            <a:avLst>
              <a:gd name="adj" fmla="val 13817"/>
            </a:avLst>
          </a:prstGeom>
          <a:solidFill>
            <a:srgbClr val="DFDFE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31" y="5651302"/>
            <a:ext cx="220623" cy="1765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6279" y="6190298"/>
            <a:ext cx="4663797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Критическая зависимость от данных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06279" y="6572012"/>
            <a:ext cx="6498550" cy="847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Качество любого подхода, особенно ML, напрямую зависит от объёма и качества размеченных данных. Методы, основанные на BIO/BILOU схеме, уязвимы к плохо размеченным данным.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447478" y="5519499"/>
            <a:ext cx="397073" cy="458867"/>
          </a:xfrm>
          <a:prstGeom prst="roundRect">
            <a:avLst>
              <a:gd name="adj" fmla="val 13817"/>
            </a:avLst>
          </a:prstGeom>
          <a:solidFill>
            <a:srgbClr val="DFDFE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704" y="5651302"/>
            <a:ext cx="220623" cy="17657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5452" y="6190298"/>
            <a:ext cx="5817870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Нерешенные проблемы: Вложенные термины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425452" y="6572012"/>
            <a:ext cx="6498669" cy="112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Эффективное извлечение вложенных терминов остаётся главной нерешённой проблемой. Большинство стандартных архитектур не предназначены для предсказания нескольких меток для одного токена.</a:t>
            </a:r>
            <a:endParaRPr lang="en-US" sz="135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1604" y="7481292"/>
            <a:ext cx="4448796" cy="625253"/>
          </a:xfrm>
          <a:prstGeom prst="rect">
            <a:avLst/>
          </a:prstGeom>
        </p:spPr>
      </p:pic>
      <p:pic>
        <p:nvPicPr>
          <p:cNvPr id="3076" name="Picture 4" descr="http://qrcoder.ru/code/?https%3A%2F%2Fgithub.com%2Fiis-research-team%2Fterminator%3Fysclid%3Dmj9s3tuuau273585943&amp;4&amp;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391" y="3941533"/>
            <a:ext cx="1350706" cy="135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5051</TotalTime>
  <Words>3135</Words>
  <Application>Microsoft Office PowerPoint</Application>
  <PresentationFormat>Произвольный</PresentationFormat>
  <Paragraphs>373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Montserrat Black</vt:lpstr>
      <vt:lpstr>Consolas</vt:lpstr>
      <vt:lpstr>Calibri</vt:lpstr>
      <vt:lpstr>Arial</vt:lpstr>
      <vt:lpstr>Inconsolata</vt:lpstr>
      <vt:lpstr>Montserrat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Владимир</dc:creator>
  <cp:lastModifiedBy>Владимир</cp:lastModifiedBy>
  <cp:revision>11</cp:revision>
  <dcterms:created xsi:type="dcterms:W3CDTF">2025-12-17T08:37:40Z</dcterms:created>
  <dcterms:modified xsi:type="dcterms:W3CDTF">2025-12-20T21:12:54Z</dcterms:modified>
</cp:coreProperties>
</file>